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D2Coding" panose="020B0609020101020101" pitchFamily="49" charset="-127"/>
      <p:regular r:id="rId28"/>
      <p:bold r:id="rId29"/>
    </p:embeddedFont>
    <p:embeddedFont>
      <p:font typeface="Pretendard ExtraBold" panose="02000903000000020004" pitchFamily="50" charset="-127"/>
      <p:bold r:id="rId30"/>
    </p:embeddedFont>
    <p:embeddedFont>
      <p:font typeface="Pretendard Light" panose="02000403000000020004" pitchFamily="50" charset="-127"/>
      <p:regular r:id="rId31"/>
    </p:embeddedFont>
    <p:embeddedFont>
      <p:font typeface="Pretendard Medium" panose="02000603000000020004" pitchFamily="50" charset="-127"/>
      <p:regular r:id="rId32"/>
    </p:embeddedFont>
    <p:embeddedFont>
      <p:font typeface="Pretendard SemiBold" panose="02000703000000020004" pitchFamily="50" charset="-127"/>
      <p:bold r:id="rId33"/>
    </p:embeddedFont>
    <p:embeddedFont>
      <p:font typeface="Varela Round" panose="00000500000000000000" pitchFamily="2" charset="-79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C5"/>
    <a:srgbClr val="FFE5C5"/>
    <a:srgbClr val="FFE2C5"/>
    <a:srgbClr val="FFFFC5"/>
    <a:srgbClr val="FFD6A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3AED14-A794-49D2-9E54-2C16A044FF24}">
  <a:tblStyle styleId="{633AED14-A794-49D2-9E54-2C16A044FF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ji Choi" userId="abf9c90d4ac71914" providerId="LiveId" clId="{89458231-CC95-40E4-9CAE-85300D3EF00D}"/>
    <pc:docChg chg="undo redo custSel modSld">
      <pc:chgData name="Minji Choi" userId="abf9c90d4ac71914" providerId="LiveId" clId="{89458231-CC95-40E4-9CAE-85300D3EF00D}" dt="2025-03-28T10:09:12.377" v="4" actId="20577"/>
      <pc:docMkLst>
        <pc:docMk/>
      </pc:docMkLst>
      <pc:sldChg chg="modSp mod">
        <pc:chgData name="Minji Choi" userId="abf9c90d4ac71914" providerId="LiveId" clId="{89458231-CC95-40E4-9CAE-85300D3EF00D}" dt="2025-03-28T10:09:12.377" v="4" actId="20577"/>
        <pc:sldMkLst>
          <pc:docMk/>
          <pc:sldMk cId="0" sldId="257"/>
        </pc:sldMkLst>
        <pc:spChg chg="mod">
          <ac:chgData name="Minji Choi" userId="abf9c90d4ac71914" providerId="LiveId" clId="{89458231-CC95-40E4-9CAE-85300D3EF00D}" dt="2025-03-28T10:09:12.377" v="4" actId="20577"/>
          <ac:spMkLst>
            <pc:docMk/>
            <pc:sldMk cId="0" sldId="257"/>
            <ac:spMk id="10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59aa69bb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59aa69bb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59aa69bb7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59aa69bb7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59aa69bb7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59aa69bb7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b6d24075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3b6d24075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59aa69bb7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459aa69bb7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59aa69bb7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59aa69bb7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b7375f15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3b7375f15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59aa69bb7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59aa69bb7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6d24075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3b6d24075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59aa69bb7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459aa69bb7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b6d2407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3b6d2407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b7375f15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3b7375f15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A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901700"/>
            <a:ext cx="17437100" cy="93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16100" y="2552700"/>
            <a:ext cx="12260100" cy="23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i="0" u="none" strike="noStrike" cap="none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건설공사</a:t>
            </a:r>
            <a:r>
              <a:rPr lang="en-US" sz="6200" i="0" u="none" strike="noStrike" cap="none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 </a:t>
            </a:r>
            <a:r>
              <a:rPr lang="en-US" sz="6200" i="0" u="none" strike="noStrike" cap="none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사고</a:t>
            </a:r>
            <a:r>
              <a:rPr lang="en-US" sz="6200" i="0" u="none" strike="noStrike" cap="none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 </a:t>
            </a:r>
            <a:r>
              <a:rPr lang="en-US" sz="6200" i="0" u="none" strike="noStrike" cap="none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예방</a:t>
            </a:r>
            <a:r>
              <a:rPr lang="en-US" sz="6200" i="0" u="none" strike="noStrike" cap="none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 및 </a:t>
            </a:r>
            <a:r>
              <a:rPr lang="en-US" sz="6200" i="0" u="none" strike="noStrike" cap="none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대응책</a:t>
            </a:r>
            <a:r>
              <a:rPr lang="en-US" sz="6200" i="0" u="none" strike="noStrike" cap="none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 </a:t>
            </a:r>
            <a:r>
              <a:rPr lang="en-US" sz="6200" i="0" u="none" strike="noStrike" cap="none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생성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Varela Round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i="0" u="none" strike="noStrike" cap="none" dirty="0" err="1">
                <a:solidFill>
                  <a:srgbClr val="F3890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한솔데코</a:t>
            </a:r>
            <a:r>
              <a:rPr lang="en-US" sz="6200" i="0" u="none" strike="noStrike" cap="none" dirty="0">
                <a:solidFill>
                  <a:srgbClr val="F3890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 시즌3 AI </a:t>
            </a:r>
            <a:r>
              <a:rPr lang="en-US" sz="6200" i="0" u="none" strike="noStrike" cap="none" dirty="0" err="1">
                <a:solidFill>
                  <a:srgbClr val="F3890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경진대회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Varela Round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 amt="47000"/>
          </a:blip>
          <a:srcRect/>
          <a:stretch/>
        </p:blipFill>
        <p:spPr>
          <a:xfrm rot="5400000">
            <a:off x="228600" y="3759200"/>
            <a:ext cx="23241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448800" y="8496300"/>
            <a:ext cx="81534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깡밍지팀</a:t>
            </a:r>
            <a:r>
              <a:rPr lang="en-US" sz="29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: </a:t>
            </a:r>
            <a:r>
              <a:rPr lang="en-US" sz="29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깡밍지</a:t>
            </a:r>
            <a:r>
              <a:rPr lang="en-US" sz="29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, </a:t>
            </a:r>
            <a:r>
              <a:rPr lang="en-US" sz="29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your_smile</a:t>
            </a:r>
            <a:r>
              <a:rPr lang="en-US" sz="29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, </a:t>
            </a:r>
            <a:r>
              <a:rPr lang="en-US" sz="29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공룡오쥼</a:t>
            </a:r>
            <a:r>
              <a:rPr lang="en-US" sz="29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,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magics2024, </a:t>
            </a:r>
            <a:r>
              <a:rPr lang="en-US" sz="29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alpheon</a:t>
            </a:r>
            <a:endParaRPr sz="2900" b="0" i="0" u="none" strike="noStrike" cap="non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56625" y="893750"/>
            <a:ext cx="4371000" cy="15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Varela Round"/>
              </a:rPr>
              <a:t>Contents</a:t>
            </a:r>
            <a:endParaRPr sz="7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Varela Round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20951"/>
            <a:ext cx="18288001" cy="612720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050675" y="3036077"/>
            <a:ext cx="1041900" cy="982200"/>
          </a:xfrm>
          <a:prstGeom prst="ellipse">
            <a:avLst/>
          </a:prstGeom>
          <a:solidFill>
            <a:srgbClr val="FFD6A6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1</a:t>
            </a:r>
            <a:endParaRPr sz="4000" b="1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198525" y="3036077"/>
            <a:ext cx="1041900" cy="982200"/>
          </a:xfrm>
          <a:prstGeom prst="ellipse">
            <a:avLst/>
          </a:prstGeom>
          <a:solidFill>
            <a:srgbClr val="FFD6A6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2</a:t>
            </a:r>
            <a:endParaRPr sz="4000" b="1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9711588" y="3036077"/>
            <a:ext cx="1041900" cy="982200"/>
          </a:xfrm>
          <a:prstGeom prst="ellipse">
            <a:avLst/>
          </a:prstGeom>
          <a:solidFill>
            <a:srgbClr val="FFD6A6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3</a:t>
            </a:r>
            <a:endParaRPr sz="4000" b="1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4224675" y="3036077"/>
            <a:ext cx="1041900" cy="982200"/>
          </a:xfrm>
          <a:prstGeom prst="ellipse">
            <a:avLst/>
          </a:prstGeom>
          <a:solidFill>
            <a:srgbClr val="FFD6A6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4</a:t>
            </a:r>
            <a:endParaRPr sz="4000" b="1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99525" y="4158058"/>
            <a:ext cx="3244500" cy="1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대회개요</a:t>
            </a:r>
            <a:r>
              <a:rPr lang="en-US" sz="3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및</a:t>
            </a:r>
            <a:endParaRPr sz="3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문제</a:t>
            </a:r>
            <a:r>
              <a:rPr lang="en-US" sz="3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정의</a:t>
            </a:r>
            <a:endParaRPr sz="3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245725" y="4158058"/>
            <a:ext cx="3244500" cy="15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리더보드 및</a:t>
            </a:r>
            <a:endParaRPr sz="300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결과 시각화</a:t>
            </a:r>
            <a:endParaRPr sz="300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711588" y="4150813"/>
            <a:ext cx="22362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서빙 흐름도</a:t>
            </a:r>
            <a:endParaRPr sz="300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4224663" y="4150813"/>
            <a:ext cx="22362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코드 설명</a:t>
            </a:r>
            <a:endParaRPr sz="300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058793" y="4648348"/>
            <a:ext cx="3559629" cy="549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52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endParaRPr lang="ko-KR" altLang="en-US"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모델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선택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및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이유</a:t>
            </a:r>
            <a:endParaRPr lang="en-US"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ko-KR" alt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코드 전체 개요</a:t>
            </a:r>
            <a:endParaRPr lang="en-US"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ko-KR" alt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라이브러리 설치 </a:t>
            </a:r>
            <a:r>
              <a:rPr lang="en-US" altLang="ko-KR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&amp; </a:t>
            </a:r>
            <a:r>
              <a:rPr lang="ko-KR" alt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불러오기</a:t>
            </a: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데이터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전처리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&amp; PDF OCR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알고리즘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(RAG)</a:t>
            </a: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ko-KR" alt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대표 핵심 문장 추출 과정 </a:t>
            </a:r>
            <a:br>
              <a:rPr lang="en-US" altLang="ko-KR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</a:br>
            <a:r>
              <a:rPr lang="en-US" altLang="ko-KR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&amp; LLM </a:t>
            </a:r>
            <a:r>
              <a:rPr lang="ko-KR" alt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생성 결과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프롬프트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작성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텍스트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후처리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27625" y="5732116"/>
            <a:ext cx="3680700" cy="1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리더보드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결과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  <a:p>
            <a:pPr marL="457200" lvl="0" indent="-3619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arela Round"/>
              <a:buChar char="-"/>
            </a:pP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문장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길이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및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유사도</a:t>
            </a:r>
            <a:r>
              <a:rPr lang="en-US" sz="2100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Varela Round"/>
              </a:rPr>
              <a:t>시각화</a:t>
            </a:r>
            <a:endParaRPr sz="2100" dirty="0">
              <a:solidFill>
                <a:schemeClr val="dk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978262" y="4771425"/>
            <a:ext cx="6331475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01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대회개요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및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문제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정의</a:t>
            </a:r>
            <a:endParaRPr sz="5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618200" y="484050"/>
            <a:ext cx="4396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1447800"/>
            <a:ext cx="17305051" cy="855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91971" y="499911"/>
            <a:ext cx="3045257" cy="6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대회개요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및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문제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정의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-259025" y="1545774"/>
            <a:ext cx="2351400" cy="687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-259025" y="3172063"/>
            <a:ext cx="2976300" cy="687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-259025" y="7230150"/>
            <a:ext cx="4830900" cy="8001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01700" y="1600200"/>
            <a:ext cx="16687800" cy="8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개요</a:t>
            </a:r>
            <a:endParaRPr sz="3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건설공사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현장에서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발생한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데이터를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활용하여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원인을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분석하고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방지를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생성하는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인공지능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(AI)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</a:t>
            </a:r>
            <a:endParaRPr sz="33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대회</a:t>
            </a:r>
            <a:r>
              <a:rPr lang="en-US" sz="3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목적</a:t>
            </a:r>
            <a:r>
              <a:rPr lang="en-US" sz="26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6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현장의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안전성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강화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→ AI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발생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가능성을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줄이고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위험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상황에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대응력을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향상시킴</a:t>
            </a:r>
            <a:b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sz="24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체계의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고도화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→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수작업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중심의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체계를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자동화하고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체계적으로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개선</a:t>
            </a:r>
            <a:b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sz="24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기술을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접목한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안전관리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프로세스</a:t>
            </a:r>
            <a:r>
              <a:rPr lang="en-US" sz="24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→ </a:t>
            </a:r>
            <a:b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인공지능의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자연어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(NLP)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능력을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활용하여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재발방지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대책과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방안을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자연어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형태로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</a:t>
            </a:r>
            <a:r>
              <a:rPr 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4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24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4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해결하고자</a:t>
            </a:r>
            <a:r>
              <a:rPr lang="en-US" sz="3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한 </a:t>
            </a:r>
            <a:r>
              <a:rPr lang="en-US" sz="30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</a:t>
            </a:r>
            <a:endParaRPr sz="3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</p:txBody>
      </p:sp>
      <p:sp>
        <p:nvSpPr>
          <p:cNvPr id="125" name="Google Shape;125;p16"/>
          <p:cNvSpPr/>
          <p:nvPr/>
        </p:nvSpPr>
        <p:spPr>
          <a:xfrm>
            <a:off x="1416200" y="8423950"/>
            <a:ext cx="4830900" cy="982200"/>
          </a:xfrm>
          <a:prstGeom prst="roundRect">
            <a:avLst>
              <a:gd name="adj" fmla="val 16667"/>
            </a:avLst>
          </a:prstGeom>
          <a:solidFill>
            <a:srgbClr val="FFD6A6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사고</a:t>
            </a:r>
            <a:r>
              <a:rPr lang="en-US" sz="2600" b="1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대응</a:t>
            </a:r>
            <a:r>
              <a:rPr lang="en-US" sz="2600" b="1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체계의</a:t>
            </a:r>
            <a:r>
              <a:rPr lang="en-US" sz="2600" b="1" dirty="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비효율성</a:t>
            </a:r>
            <a:endParaRPr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715850" y="8423950"/>
            <a:ext cx="4830900" cy="982200"/>
          </a:xfrm>
          <a:prstGeom prst="roundRect">
            <a:avLst>
              <a:gd name="adj" fmla="val 16667"/>
            </a:avLst>
          </a:prstGeom>
          <a:solidFill>
            <a:srgbClr val="FFD6A6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재발 방지 대책의 비일관성</a:t>
            </a:r>
            <a:endParaRPr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12015500" y="8423950"/>
            <a:ext cx="4830900" cy="982200"/>
          </a:xfrm>
          <a:prstGeom prst="roundRect">
            <a:avLst>
              <a:gd name="adj" fmla="val 16667"/>
            </a:avLst>
          </a:prstGeom>
          <a:solidFill>
            <a:srgbClr val="FFD6A6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 기반 의사결정 부족</a:t>
            </a:r>
            <a:endParaRPr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659103" y="4913061"/>
            <a:ext cx="6969793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02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리더보드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및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결과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시각화</a:t>
            </a:r>
            <a:endParaRPr sz="5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618200" y="484050"/>
            <a:ext cx="4396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2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552600" y="533450"/>
            <a:ext cx="1940700" cy="43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리더보드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결과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122150" y="2025175"/>
            <a:ext cx="16043700" cy="763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6412" y="2456987"/>
            <a:ext cx="14329774" cy="19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3010" y="4585688"/>
            <a:ext cx="10013176" cy="47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1552600" y="5988100"/>
            <a:ext cx="4256100" cy="1818000"/>
          </a:xfrm>
          <a:prstGeom prst="roundRect">
            <a:avLst>
              <a:gd name="adj" fmla="val 16667"/>
            </a:avLst>
          </a:prstGeom>
          <a:solidFill>
            <a:srgbClr val="F8D8A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731850" y="6351350"/>
            <a:ext cx="4076700" cy="14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0324_baseline_pk_cleaned.csv</a:t>
            </a:r>
            <a:endParaRPr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(</a:t>
            </a: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상위</a:t>
            </a: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15개,</a:t>
            </a:r>
            <a:endParaRPr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재발방지대칙</a:t>
            </a: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및 </a:t>
            </a: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향후조치계획</a:t>
            </a: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)</a:t>
            </a:r>
            <a:endParaRPr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382525" y="1602350"/>
            <a:ext cx="3646800" cy="838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731850" y="1756474"/>
            <a:ext cx="2937025" cy="53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Public score </a:t>
            </a:r>
            <a:r>
              <a:rPr lang="en-US" sz="3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2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65957" y="533450"/>
            <a:ext cx="3650336" cy="50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문장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길이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및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유사도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시각화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109450" y="1906100"/>
            <a:ext cx="16043700" cy="763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887425" y="7307675"/>
            <a:ext cx="6619800" cy="1878600"/>
          </a:xfrm>
          <a:prstGeom prst="roundRect">
            <a:avLst>
              <a:gd name="adj" fmla="val 16667"/>
            </a:avLst>
          </a:prstGeom>
          <a:solidFill>
            <a:srgbClr val="F8D8A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2391125" y="7698125"/>
            <a:ext cx="5612400" cy="12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분포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히스토그램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포함된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문장들의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분포를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보여주어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다양성을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있음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1" name="Google Shape;161;p19" title="downlo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7425" y="2558000"/>
            <a:ext cx="6619875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title="downloa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75100" y="2409175"/>
            <a:ext cx="6433113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/>
          <p:nvPr/>
        </p:nvSpPr>
        <p:spPr>
          <a:xfrm>
            <a:off x="1382525" y="1602350"/>
            <a:ext cx="4201846" cy="838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598557" y="1748407"/>
            <a:ext cx="3769782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사고유형</a:t>
            </a:r>
            <a:r>
              <a:rPr 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중 </a:t>
            </a:r>
            <a:r>
              <a:rPr lang="en-US" sz="30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“</a:t>
            </a:r>
            <a:r>
              <a:rPr lang="en-US" sz="30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감전</a:t>
            </a:r>
            <a:r>
              <a:rPr lang="en-US" sz="30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r>
              <a:rPr 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</a:t>
            </a:r>
            <a:endParaRPr sz="30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9510350" y="7307675"/>
            <a:ext cx="6619800" cy="1878600"/>
          </a:xfrm>
          <a:prstGeom prst="roundRect">
            <a:avLst>
              <a:gd name="adj" fmla="val 16667"/>
            </a:avLst>
          </a:prstGeom>
          <a:solidFill>
            <a:srgbClr val="F8D8A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0014050" y="7502825"/>
            <a:ext cx="56124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문장과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비교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바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차트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그룹에서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선택된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길이를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비교하여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간결함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정도를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있음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159285" y="4974454"/>
            <a:ext cx="3969429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03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서빙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흐름도</a:t>
            </a:r>
            <a:endParaRPr sz="5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618200" y="484050"/>
            <a:ext cx="4396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A6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150" y="1056400"/>
            <a:ext cx="18288000" cy="859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61675" y="1623900"/>
            <a:ext cx="2405700" cy="23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입력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간단한</a:t>
            </a:r>
            <a:endParaRPr lang="en-US"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상황정보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입력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2868400" y="1623900"/>
            <a:ext cx="2479650" cy="23184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유형별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그룹화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1. 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유형에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따라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재발방지대책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수집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2.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입력이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들어왔을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때 →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해당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유형의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과거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데이터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사례와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결합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875000" y="4352575"/>
            <a:ext cx="4473050" cy="1689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건설안전지침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문서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불러오기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(Markdown)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선정과</a:t>
            </a:r>
            <a:b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LLM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프롬프트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생성에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참고할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자료로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활용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810475" y="2902575"/>
            <a:ext cx="2405700" cy="209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전처리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공백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/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줄바꿈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제거후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긴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한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문장씩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분리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8895975" y="1548450"/>
            <a:ext cx="2405700" cy="2098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SBERT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임베딩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벡터로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변환하여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의미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)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계산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8895975" y="4222325"/>
            <a:ext cx="2405700" cy="18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TF-IDF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계산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단어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기반으로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간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계산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1764100" y="2494725"/>
            <a:ext cx="2944300" cy="2607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가중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평균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Combined_similarity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)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문맥과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단어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합쳐</a:t>
            </a:r>
            <a:endParaRPr lang="en-US"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최종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0512150" y="7293075"/>
            <a:ext cx="2405700" cy="18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후처리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정제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텍스트에서</a:t>
            </a:r>
            <a:b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불필요한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형식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제거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185425" y="7293075"/>
            <a:ext cx="2990400" cy="18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LLM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대응책을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생성하는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b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17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Solar-10.7B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언어모델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호출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847000" y="7293075"/>
            <a:ext cx="4427100" cy="18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프롬프트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구성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모델에게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역할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형식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조건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등의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지침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포함하여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b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LLM 이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따르는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프롬프트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5224975" y="2463700"/>
            <a:ext cx="2810100" cy="27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선정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가장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평균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유사도가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높은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것을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기준으로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전체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문장과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의미적으로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가장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잘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어울리는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선정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4054650" y="7293075"/>
            <a:ext cx="3404700" cy="18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389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최종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대응책</a:t>
            </a:r>
            <a:r>
              <a:rPr lang="en-US" sz="1900" b="1" dirty="0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900" b="1" dirty="0" err="1">
                <a:highlight>
                  <a:srgbClr val="FFF2CC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출력</a:t>
            </a:r>
            <a:endParaRPr sz="1900" b="1" dirty="0">
              <a:highlight>
                <a:srgbClr val="FFF2CC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요약된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문장을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사용자에게</a:t>
            </a:r>
            <a:r>
              <a:rPr lang="en-US" sz="17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17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출력</a:t>
            </a:r>
            <a:endParaRPr sz="17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cxnSp>
        <p:nvCxnSpPr>
          <p:cNvPr id="191" name="Google Shape;191;p21"/>
          <p:cNvCxnSpPr>
            <a:cxnSpLocks/>
            <a:stCxn id="180" idx="3"/>
            <a:endCxn id="182" idx="1"/>
          </p:cNvCxnSpPr>
          <p:nvPr/>
        </p:nvCxnSpPr>
        <p:spPr>
          <a:xfrm>
            <a:off x="5348050" y="2783138"/>
            <a:ext cx="462425" cy="116853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1"/>
          <p:cNvCxnSpPr>
            <a:cxnSpLocks/>
            <a:stCxn id="179" idx="3"/>
            <a:endCxn id="180" idx="1"/>
          </p:cNvCxnSpPr>
          <p:nvPr/>
        </p:nvCxnSpPr>
        <p:spPr>
          <a:xfrm flipV="1">
            <a:off x="2567375" y="2783138"/>
            <a:ext cx="301025" cy="16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1"/>
          <p:cNvCxnSpPr>
            <a:cxnSpLocks/>
            <a:stCxn id="181" idx="3"/>
            <a:endCxn id="182" idx="1"/>
          </p:cNvCxnSpPr>
          <p:nvPr/>
        </p:nvCxnSpPr>
        <p:spPr>
          <a:xfrm flipV="1">
            <a:off x="5348050" y="3951675"/>
            <a:ext cx="462425" cy="124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1"/>
          <p:cNvCxnSpPr>
            <a:stCxn id="182" idx="3"/>
            <a:endCxn id="183" idx="1"/>
          </p:cNvCxnSpPr>
          <p:nvPr/>
        </p:nvCxnSpPr>
        <p:spPr>
          <a:xfrm rot="10800000" flipH="1">
            <a:off x="8216175" y="2597475"/>
            <a:ext cx="679800" cy="135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1"/>
          <p:cNvCxnSpPr>
            <a:stCxn id="182" idx="3"/>
            <a:endCxn id="184" idx="1"/>
          </p:cNvCxnSpPr>
          <p:nvPr/>
        </p:nvCxnSpPr>
        <p:spPr>
          <a:xfrm>
            <a:off x="8216175" y="3951675"/>
            <a:ext cx="679800" cy="11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1"/>
          <p:cNvCxnSpPr>
            <a:cxnSpLocks/>
            <a:stCxn id="183" idx="3"/>
            <a:endCxn id="185" idx="1"/>
          </p:cNvCxnSpPr>
          <p:nvPr/>
        </p:nvCxnSpPr>
        <p:spPr>
          <a:xfrm>
            <a:off x="11301675" y="2597550"/>
            <a:ext cx="462425" cy="1200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1"/>
          <p:cNvCxnSpPr>
            <a:cxnSpLocks/>
            <a:stCxn id="184" idx="3"/>
            <a:endCxn id="185" idx="1"/>
          </p:cNvCxnSpPr>
          <p:nvPr/>
        </p:nvCxnSpPr>
        <p:spPr>
          <a:xfrm flipV="1">
            <a:off x="11301675" y="3798375"/>
            <a:ext cx="462425" cy="13335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21"/>
          <p:cNvCxnSpPr>
            <a:cxnSpLocks/>
            <a:stCxn id="185" idx="3"/>
            <a:endCxn id="189" idx="1"/>
          </p:cNvCxnSpPr>
          <p:nvPr/>
        </p:nvCxnSpPr>
        <p:spPr>
          <a:xfrm>
            <a:off x="14708400" y="3798375"/>
            <a:ext cx="516575" cy="3197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21"/>
          <p:cNvCxnSpPr>
            <a:stCxn id="188" idx="3"/>
            <a:endCxn id="187" idx="1"/>
          </p:cNvCxnSpPr>
          <p:nvPr/>
        </p:nvCxnSpPr>
        <p:spPr>
          <a:xfrm>
            <a:off x="5274100" y="8202675"/>
            <a:ext cx="911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1"/>
          <p:cNvCxnSpPr>
            <a:stCxn id="187" idx="3"/>
            <a:endCxn id="186" idx="1"/>
          </p:cNvCxnSpPr>
          <p:nvPr/>
        </p:nvCxnSpPr>
        <p:spPr>
          <a:xfrm>
            <a:off x="9175825" y="8202675"/>
            <a:ext cx="1336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1"/>
          <p:cNvCxnSpPr>
            <a:stCxn id="186" idx="3"/>
            <a:endCxn id="190" idx="1"/>
          </p:cNvCxnSpPr>
          <p:nvPr/>
        </p:nvCxnSpPr>
        <p:spPr>
          <a:xfrm>
            <a:off x="12917850" y="8202675"/>
            <a:ext cx="1136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21"/>
          <p:cNvCxnSpPr>
            <a:stCxn id="189" idx="2"/>
            <a:endCxn id="188" idx="0"/>
          </p:cNvCxnSpPr>
          <p:nvPr/>
        </p:nvCxnSpPr>
        <p:spPr>
          <a:xfrm rot="5400000">
            <a:off x="8797175" y="-539750"/>
            <a:ext cx="2096100" cy="13569600"/>
          </a:xfrm>
          <a:prstGeom prst="bentConnector3">
            <a:avLst>
              <a:gd name="adj1" fmla="val 6923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12589150" y="5397450"/>
            <a:ext cx="1465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61675" y="178575"/>
            <a:ext cx="3865800" cy="1030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2425" y="267009"/>
            <a:ext cx="30996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dirty="0" err="1">
                <a:solidFill>
                  <a:schemeClr val="lt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서빙</a:t>
            </a:r>
            <a:r>
              <a:rPr lang="en-US" sz="4600" dirty="0">
                <a:solidFill>
                  <a:schemeClr val="lt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4600" dirty="0" err="1">
                <a:solidFill>
                  <a:schemeClr val="lt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흐름도</a:t>
            </a:r>
            <a:endParaRPr sz="4600" dirty="0">
              <a:solidFill>
                <a:schemeClr val="lt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rgbClr val="F389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436871" y="4827496"/>
            <a:ext cx="3414257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04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코드</a:t>
            </a:r>
            <a:r>
              <a:rPr lang="en-US" sz="5000" dirty="0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 </a:t>
            </a:r>
            <a:r>
              <a:rPr lang="en-US" sz="5000" dirty="0" err="1">
                <a:solidFill>
                  <a:schemeClr val="dk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Varela Round"/>
              </a:rPr>
              <a:t>설명</a:t>
            </a:r>
            <a:endParaRPr sz="5000" dirty="0">
              <a:solidFill>
                <a:schemeClr val="dk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Varela Rou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618200" y="484050"/>
            <a:ext cx="4396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-160050"/>
            <a:ext cx="19481802" cy="13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246475" y="1888075"/>
            <a:ext cx="4076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425725" y="1888075"/>
            <a:ext cx="4076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287696" y="533638"/>
            <a:ext cx="2453807" cy="46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모델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선택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및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이유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95325" y="1550150"/>
            <a:ext cx="16824600" cy="370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6550" y="2378998"/>
            <a:ext cx="1989000" cy="19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2937175" y="2178363"/>
            <a:ext cx="7731300" cy="27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upstage</a:t>
            </a:r>
            <a:endParaRPr sz="4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SOLAR MINI</a:t>
            </a:r>
            <a:endParaRPr sz="2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upstage/SOLAR-10.7B-Instruct-v1.0</a:t>
            </a:r>
            <a:endParaRPr sz="2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2046625" y="1960513"/>
            <a:ext cx="3902400" cy="27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A100 GPU 1대</a:t>
            </a:r>
            <a:endParaRPr sz="3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27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RAM : 83.5 GB </a:t>
            </a:r>
            <a:endParaRPr sz="27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GPU RAM : 40.0 GB </a:t>
            </a:r>
            <a:endParaRPr sz="27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디스크</a:t>
            </a:r>
            <a:r>
              <a:rPr lang="en-US" sz="27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235.7 GB</a:t>
            </a:r>
            <a:endParaRPr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-968125" y="1367300"/>
            <a:ext cx="6291300" cy="8001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1122150" y="1538800"/>
            <a:ext cx="4076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사용한</a:t>
            </a:r>
            <a:r>
              <a:rPr lang="en-US" sz="26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6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모델과</a:t>
            </a:r>
            <a:r>
              <a:rPr lang="en-US" sz="26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6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추론</a:t>
            </a:r>
            <a:r>
              <a:rPr lang="en-US" sz="26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6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환경</a:t>
            </a:r>
            <a:endParaRPr sz="13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29" name="Google Shape;229;p23"/>
          <p:cNvCxnSpPr/>
          <p:nvPr/>
        </p:nvCxnSpPr>
        <p:spPr>
          <a:xfrm>
            <a:off x="10770100" y="1976875"/>
            <a:ext cx="20400" cy="27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3"/>
          <p:cNvSpPr/>
          <p:nvPr/>
        </p:nvSpPr>
        <p:spPr>
          <a:xfrm>
            <a:off x="462625" y="5510650"/>
            <a:ext cx="16824600" cy="4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04575" y="5573723"/>
            <a:ext cx="15991200" cy="44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arela Round"/>
              <a:buAutoNum type="arabicPeriod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한국어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문장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생성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성능이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뛰어남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arela Round"/>
              <a:buChar char="●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SOLAR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시리즈는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AI Hub, KLUE,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한국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논문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뉴스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등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국내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고품질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말뭉치를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다수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학습하여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,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한국어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문법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/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표현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/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어휘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선택이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훨씬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자연스러움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889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RAG을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적용하기에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좋음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Base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모델은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문서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응답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→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RAG에서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주어진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문서나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텍스트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(Context)에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기반하여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정직하고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정확한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답변을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유도할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있음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또한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자유로운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문서형태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입력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중 QA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쌍을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처리하여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경진대회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개요와도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적합함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889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지시문에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최적화된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응답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생성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Varela Round"/>
              </a:rPr>
              <a:t>가능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arela Round"/>
              <a:buChar char="●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Instruct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"system"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"user"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익숙해서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지침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: ~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하세요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"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같은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스타일에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최적화되어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있음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Varela Rou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13483675" y="5796150"/>
            <a:ext cx="5252700" cy="8001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4706774" y="5961300"/>
            <a:ext cx="2451625" cy="48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Why SOLAR?</a:t>
            </a:r>
            <a:endParaRPr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-160050"/>
            <a:ext cx="19481802" cy="13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1246475" y="1888075"/>
            <a:ext cx="4076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1425725" y="1888075"/>
            <a:ext cx="4076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1359600" y="533450"/>
            <a:ext cx="23100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코드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전체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개요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44" name="Google Shape;244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950" y="1501125"/>
            <a:ext cx="17446175" cy="87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79525" y="1387450"/>
            <a:ext cx="79899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입력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데이터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+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건설안전지침문서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(Markdown)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‘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재발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방지대책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향후조치계획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’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 +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건설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안전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지침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read_markdown_files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preprocess_text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split_sentences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779525" y="3504185"/>
            <a:ext cx="74967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전처리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수집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전처리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공백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/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개행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병합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process_text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split_sentence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read_markdown_files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779524" y="5640694"/>
            <a:ext cx="7352105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분석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SBERT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임베딩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+ TF-IDF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계산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60% +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단어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40%</a:t>
            </a: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combined_similarity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 )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779525" y="7783867"/>
            <a:ext cx="7496700" cy="24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)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선택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가장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중심이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되는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추출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평균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가장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높은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선택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model.encode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prepare_similarities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combined_similarity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np.mean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np.argmax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 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8920174" y="1264275"/>
            <a:ext cx="9142051" cy="2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프롬프트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구성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건설안전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전문가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역할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프롬프트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템플릿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설계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핵심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삽입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+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출력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조건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명시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rag_prompt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messages(system/user),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tokenizer.apply_chat_template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</a:t>
            </a: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f-string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8920174" y="3856755"/>
            <a:ext cx="8498100" cy="2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LLM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SOLAR-10.7B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모델로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256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토큰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+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샘플링으로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신뢰도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높은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llm.model.generate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apply_chat_template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 ,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샘플링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(temperature,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top_k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top_p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max_new_tokens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등)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8920174" y="6364228"/>
            <a:ext cx="7865596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후처리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시스템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메시지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특수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토큰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저장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tokenizer.decode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re.sub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re.search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(), strip(),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dict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저장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921825" y="8471645"/>
            <a:ext cx="7863945" cy="170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✅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최종</a:t>
            </a:r>
            <a:r>
              <a:rPr lang="en-US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3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산출물</a:t>
            </a:r>
            <a:endParaRPr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딕셔너리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모든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유형에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요약된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대응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완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료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res_enhanced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-460325"/>
            <a:ext cx="19481802" cy="1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1447800"/>
            <a:ext cx="8597901" cy="766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33400" y="490899"/>
            <a:ext cx="3861436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라이브러리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설치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 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&amp;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불러오기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901700" y="1600200"/>
            <a:ext cx="7759800" cy="8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라이브러리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os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re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torch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numpy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as np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pandas as pd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glob import glob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tqdm.auto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tqdm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IPython.display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import Markdown, display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PDF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import PyPDF2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벡터화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분석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sklearn.feature_extraction.text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TfidfVectorizer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sklearn.metrics.pairwise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cosine_similarity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자연어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sentence_transformers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SentenceTransformer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from transformers import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AutoModelForCausalLM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AutoTokenizer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160000">
            <a:off x="7761967" y="4291301"/>
            <a:ext cx="13335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9730600" y="2116575"/>
            <a:ext cx="3979800" cy="19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9740901" y="2122714"/>
            <a:ext cx="8133900" cy="65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os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re, glob,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tqdm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Ipython.display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경로관리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정규표현식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탐색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진행률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시각화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Markdown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numpy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pandas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데이터프레임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핸들링에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PyPDF2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PDF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된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메뉴얼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등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TfidVectorizer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cosine_similarity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간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비교시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NLP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관련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sentence_transformers.SentenceTransform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S-BERT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코사인유사도계산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transformers.AutoTokenizer,AutoModelForCausalLM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사전학습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언어모델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로딩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99375"/>
            <a:ext cx="18585276" cy="13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0" y="368300"/>
            <a:ext cx="502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1447800"/>
            <a:ext cx="8470800" cy="79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160000">
            <a:off x="8234775" y="4001200"/>
            <a:ext cx="13335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530454" y="482612"/>
            <a:ext cx="3826421" cy="571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데이터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 </a:t>
            </a: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전처리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 &amp; PDF OCR</a:t>
            </a:r>
            <a:endParaRPr sz="2700" b="0" i="0" u="none" strike="noStrike" cap="none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</p:txBody>
      </p:sp>
      <p:sp>
        <p:nvSpPr>
          <p:cNvPr id="276" name="Google Shape;276;p26"/>
          <p:cNvSpPr txBox="1"/>
          <p:nvPr/>
        </p:nvSpPr>
        <p:spPr>
          <a:xfrm>
            <a:off x="1236149" y="1676625"/>
            <a:ext cx="7356125" cy="7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전처리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분리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함수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텍스트에서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불필요한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공백과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개행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preprocess_text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(r'\s+', ' ',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다중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공백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(r'\n', ' ', text) 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줄바꿈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text.strip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단위로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분리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split_sentences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re.split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(r'(?&lt;=[.!?])\s+', text)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Markdown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파일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병합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문장화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Markdown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함수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(PDF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대신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사용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(page_1.md, page_2.md, ...)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읽어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하나의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문자열로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결합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read_markdown_files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(directory):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page_num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1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combined_text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""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while True: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os.path.join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(directory,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f"page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_{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page_num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}.md")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if not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os.path.exists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break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with open(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"r", encoding="utf-8") as f: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combined_text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f.read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 + "\n"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page_num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+= 1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combined_text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121475" y="-3883550"/>
            <a:ext cx="8470800" cy="3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사용한 사전학습 모델</a:t>
            </a:r>
            <a:endParaRPr sz="2200"/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사전학습 모델 선택 이유</a:t>
            </a:r>
            <a:endParaRPr sz="2200"/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파인튜닝 (학습룰, 토큰길이, 배치싸이즈)</a:t>
            </a:r>
            <a:endParaRPr sz="2200"/>
          </a:p>
        </p:txBody>
      </p:sp>
      <p:sp>
        <p:nvSpPr>
          <p:cNvPr id="278" name="Google Shape;278;p26"/>
          <p:cNvSpPr txBox="1"/>
          <p:nvPr/>
        </p:nvSpPr>
        <p:spPr>
          <a:xfrm>
            <a:off x="10419887" y="2898946"/>
            <a:ext cx="6452426" cy="44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전처리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분리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불필요한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줄바꿈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개행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다중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분리하여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LLM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분할은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LLM 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              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후처리에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효과적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건설안전지침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PDF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필요한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데이터셋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불러와서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병합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RAG/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설계에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유리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55700"/>
            <a:ext cx="18288000" cy="91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1447800"/>
            <a:ext cx="8316001" cy="64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533400" y="449993"/>
            <a:ext cx="2251883" cy="5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알고리즘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(RAG)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711200" y="1828800"/>
            <a:ext cx="8521800" cy="7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SBERT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TF-IDF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기반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대표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추출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prepare_similarities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(sentences, embeddings):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with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tqdm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(total=2, desc="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계산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", leave=False) as pbar: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기반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pbar.set_postfix_str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cosine_similarity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(embeddings)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단어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기반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(TF-IDF)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pbar.set_postfix_str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단어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tfidf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TfidfVectorizer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().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fit_transform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(sentences)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word_sim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cosine_similarity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tfidf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word_sim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두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유사도를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가중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평균하여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최종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계산</a:t>
            </a:r>
            <a:b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</a:b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combined_similarity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word_sim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alpha=0.6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alpha *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 (1 - alpha) *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word_sim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9508300" y="1517600"/>
            <a:ext cx="8470800" cy="84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290" name="Google Shape;290;p27"/>
          <p:cNvSpPr txBox="1"/>
          <p:nvPr/>
        </p:nvSpPr>
        <p:spPr>
          <a:xfrm>
            <a:off x="9667825" y="1917050"/>
            <a:ext cx="8470800" cy="7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비슷하고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비슷한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핵심요지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)을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추출하여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 이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맥락에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맞게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정확하고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일관된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생성하도록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함.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context_sim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문맥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SentenceTransformer로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코사인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의미적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파악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US" altLang="ko-KR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word_sim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TD-IDF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벡터화로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각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포함된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단어들이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얼마나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겹치는지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ex) A :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안전모를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착용하지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않았다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B :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작업자가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헬멧을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안썼다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          →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비슷하지만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때, TD-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IDF는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낮음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간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어휘의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유사성을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보완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US" altLang="ko-KR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혼합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중심의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선정하기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0.6점,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0.4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점을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부여하여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어휘적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보완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1번과 2번의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행렬을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가중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평균하여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높은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선정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91" name="Google Shape;291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160000">
            <a:off x="7953425" y="3327175"/>
            <a:ext cx="1333500" cy="15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30829" y="0"/>
            <a:ext cx="209169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1" y="355600"/>
            <a:ext cx="6384471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397632" y="492940"/>
            <a:ext cx="5807225" cy="49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대표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핵심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문장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추출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과정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altLang="ko-KR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&amp; LLM </a:t>
            </a:r>
            <a:r>
              <a:rPr lang="ko-KR" alt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생성 결과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1279325" y="4213700"/>
            <a:ext cx="3010200" cy="13161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문맥 유사도 계산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문장 의미 (문맥 )파악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cosine_similarity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4465325" y="4213706"/>
            <a:ext cx="2904600" cy="13161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단어 유사도 계산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단어 기반으로 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문장 간 유사도 계산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cosine_similarity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1279325" y="5720373"/>
            <a:ext cx="6099600" cy="10650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혼합 유사도 행렬 생성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combined_similarity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가중치 부여 : 문맥 유사도 60% , 단어 유사도 40%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1279325" y="1340750"/>
            <a:ext cx="6099600" cy="6543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사용자</a:t>
            </a:r>
            <a:r>
              <a:rPr lang="en-US" sz="17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17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사고</a:t>
            </a:r>
            <a:r>
              <a:rPr lang="en-US" sz="17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17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유형</a:t>
            </a:r>
            <a:r>
              <a:rPr lang="en-US" sz="17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17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선택</a:t>
            </a:r>
            <a:endParaRPr sz="17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(</a:t>
            </a:r>
            <a:r>
              <a:rPr lang="en-US" sz="17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떨어짐</a:t>
            </a:r>
            <a:r>
              <a:rPr lang="en-US" sz="17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끼임</a:t>
            </a:r>
            <a:r>
              <a:rPr lang="en-US" sz="17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부딪힘</a:t>
            </a:r>
            <a:r>
              <a:rPr lang="en-US" sz="17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, </a:t>
            </a:r>
            <a:r>
              <a:rPr lang="en-US" sz="17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넘어짐</a:t>
            </a:r>
            <a:r>
              <a:rPr lang="en-US" sz="17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등)</a:t>
            </a:r>
            <a:endParaRPr sz="17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1279325" y="2237425"/>
            <a:ext cx="6099600" cy="9492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사고유형 별 ‘재발방지대책 및 향후 조치계획’ 문장 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+ 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‘건설안전지침’ 문장 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1279325" y="3429000"/>
            <a:ext cx="3010200" cy="6543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SBERT 임베딩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SentenceTransformer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4457600" y="3429000"/>
            <a:ext cx="2904600" cy="6543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TF-IDF </a:t>
            </a:r>
            <a:r>
              <a:rPr lang="en-US" sz="17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벡터화</a:t>
            </a:r>
            <a:endParaRPr sz="17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TfidVectorizer</a:t>
            </a:r>
            <a:endParaRPr sz="17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1279325" y="8795875"/>
            <a:ext cx="6099600" cy="12594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대표</a:t>
            </a:r>
            <a:r>
              <a:rPr lang="en-US" sz="21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ko-KR" altLang="en-US" sz="21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핵심 </a:t>
            </a:r>
            <a:r>
              <a:rPr lang="en-US" sz="21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문장</a:t>
            </a:r>
            <a:r>
              <a:rPr lang="en-US" sz="21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1개 </a:t>
            </a:r>
            <a:r>
              <a:rPr lang="en-US" sz="21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선택</a:t>
            </a:r>
            <a:endParaRPr sz="21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np.argmax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로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평균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유사도가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가장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높은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것으로</a:t>
            </a:r>
            <a:r>
              <a:rPr lang="en-US" sz="2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 </a:t>
            </a:r>
            <a:r>
              <a:rPr lang="en-US" sz="2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선정</a:t>
            </a:r>
            <a:endParaRPr sz="2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1279325" y="6953323"/>
            <a:ext cx="6082800" cy="1259400"/>
          </a:xfrm>
          <a:prstGeom prst="roundRect">
            <a:avLst>
              <a:gd name="adj" fmla="val 16667"/>
            </a:avLst>
          </a:prstGeom>
          <a:solidFill>
            <a:srgbClr val="FFE5C5"/>
          </a:solidFill>
          <a:ln w="1905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문장별 평균 계산</a:t>
            </a:r>
            <a:endParaRPr sz="17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각 문장이 다른 문장들과 얼마나 유사한지 평균 계산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Calibri"/>
              </a:rPr>
              <a:t>np.mean (combined_sim, axis =1 )</a:t>
            </a:r>
            <a:endParaRPr sz="17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3888425" y="8253142"/>
            <a:ext cx="881400" cy="654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3;p19">
            <a:extLst>
              <a:ext uri="{FF2B5EF4-FFF2-40B4-BE49-F238E27FC236}">
                <a16:creationId xmlns:a16="http://schemas.microsoft.com/office/drawing/2014/main" id="{D356C37E-44E8-1AC3-75C4-197BF32AC68E}"/>
              </a:ext>
            </a:extLst>
          </p:cNvPr>
          <p:cNvSpPr/>
          <p:nvPr/>
        </p:nvSpPr>
        <p:spPr>
          <a:xfrm>
            <a:off x="8658250" y="1472900"/>
            <a:ext cx="8302761" cy="838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64;p19">
            <a:extLst>
              <a:ext uri="{FF2B5EF4-FFF2-40B4-BE49-F238E27FC236}">
                <a16:creationId xmlns:a16="http://schemas.microsoft.com/office/drawing/2014/main" id="{F21879A0-FDB5-513D-805C-205016A4894B}"/>
              </a:ext>
            </a:extLst>
          </p:cNvPr>
          <p:cNvSpPr txBox="1"/>
          <p:nvPr/>
        </p:nvSpPr>
        <p:spPr>
          <a:xfrm>
            <a:off x="9042885" y="1604293"/>
            <a:ext cx="7585858" cy="70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유형별 대표 핵심 문장 </a:t>
            </a:r>
            <a:r>
              <a:rPr lang="en-US" altLang="ko-KR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&amp;</a:t>
            </a:r>
            <a:r>
              <a:rPr lang="ko-KR" alt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 </a:t>
            </a:r>
            <a:r>
              <a:rPr lang="ko-KR" altLang="en-US" sz="3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 결과 비교</a:t>
            </a:r>
            <a:endParaRPr lang="ko-KR" altLang="en-US"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" name="Google Shape;164;p19">
            <a:extLst>
              <a:ext uri="{FF2B5EF4-FFF2-40B4-BE49-F238E27FC236}">
                <a16:creationId xmlns:a16="http://schemas.microsoft.com/office/drawing/2014/main" id="{40970D4C-A8DD-ECF0-54E8-6B76E592827A}"/>
              </a:ext>
            </a:extLst>
          </p:cNvPr>
          <p:cNvSpPr txBox="1"/>
          <p:nvPr/>
        </p:nvSpPr>
        <p:spPr>
          <a:xfrm>
            <a:off x="8767450" y="2562236"/>
            <a:ext cx="81153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유형별로 선정된 대표핵심문장을 </a:t>
            </a:r>
            <a:r>
              <a:rPr lang="en-US" altLang="ko-KR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</a:t>
            </a:r>
            <a:r>
              <a:rPr lang="ko-KR" alt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입력</a:t>
            </a:r>
            <a:r>
              <a:rPr lang="en-US" altLang="ko-KR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이를 토대로 현장에서 바로 실행 가능한 </a:t>
            </a:r>
            <a:r>
              <a:rPr lang="en-US" altLang="ko-KR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AFTER(</a:t>
            </a:r>
            <a:r>
              <a:rPr lang="ko-KR" alt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모델의 응답</a:t>
            </a:r>
            <a:r>
              <a:rPr lang="en-US" altLang="ko-KR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altLang="ko-KR" sz="24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graphicFrame>
        <p:nvGraphicFramePr>
          <p:cNvPr id="8" name="Google Shape;310;p28">
            <a:extLst>
              <a:ext uri="{FF2B5EF4-FFF2-40B4-BE49-F238E27FC236}">
                <a16:creationId xmlns:a16="http://schemas.microsoft.com/office/drawing/2014/main" id="{1F2B5B47-B1F8-9695-DE82-F27FEE7CB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191516"/>
              </p:ext>
            </p:extLst>
          </p:nvPr>
        </p:nvGraphicFramePr>
        <p:xfrm>
          <a:off x="8294915" y="3838375"/>
          <a:ext cx="9539869" cy="56249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9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7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인적사고유형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 anchor="ctr"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BEFORE (</a:t>
                      </a:r>
                      <a:r>
                        <a:rPr lang="en-US" sz="17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대표핵심문장</a:t>
                      </a:r>
                      <a:r>
                        <a:rPr lang="en-US" sz="17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 anchor="ctr"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AFTER (</a:t>
                      </a:r>
                      <a:r>
                        <a:rPr lang="en-US" sz="17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모델의</a:t>
                      </a:r>
                      <a:r>
                        <a:rPr lang="en-US" sz="17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응답</a:t>
                      </a:r>
                      <a:r>
                        <a:rPr lang="en-US" sz="17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 anchor="ctr"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감전</a:t>
                      </a:r>
                      <a:endParaRPr sz="1700" b="1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정리정돈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철저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안전교육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철저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b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</a:b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위험성평가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강화에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대한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재발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방지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대책과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향후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조치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계획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  <a:endParaRPr sz="1700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700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정리정돈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안전교육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강화</a:t>
                      </a:r>
                      <a:endParaRPr sz="1700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2.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위험성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평가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강화를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통한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예방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조치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endParaRPr sz="1700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향후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조치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계획</a:t>
                      </a:r>
                      <a:r>
                        <a:rPr 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수립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6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끼임</a:t>
                      </a:r>
                      <a:endParaRPr sz="1700" b="1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 전 안전교육 실시를 통한 재발 방지 대책 및 향후 조치 계획.</a:t>
                      </a:r>
                      <a:endParaRPr sz="170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전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안전교육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방지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2. 이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사고를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바탕으로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한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향후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조치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계획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수립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6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떨어짐</a:t>
                      </a:r>
                      <a:b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</a:br>
                      <a: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(분류불능)</a:t>
                      </a:r>
                      <a:endParaRPr sz="1700" b="1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작업전 안전교육 실시, 안전시설 재점검, 안전장구류 착용 철저 등의 재발 방지 대책과 향후 조치 계획.</a:t>
                      </a:r>
                      <a:endParaRPr sz="170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작업장 안전 재교육을 실시하고, 안전 시설을 재점검하며, 안전 장구류를 올바르게 사용하도록 하여 재발을 방지하고 향후 조치를 계획합니다.</a:t>
                      </a:r>
                      <a:endParaRPr sz="170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14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화상</a:t>
                      </a:r>
                      <a:endParaRPr sz="1700" b="1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화기 및 위험 작업자 특별 안전교육 실시, 작업 전 위험성 평가 후 안전대책 수립 및 이행 상태 확인, 작업발판 고정 및 안전시설 점검 철저에 대한 재발 방지 대책 접수</a:t>
                      </a:r>
                      <a:endParaRPr sz="170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화기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위험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작업자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대상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특별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안전교육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2.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전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위험성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평가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안전대책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수립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대책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이행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철저히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확인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4.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작업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발판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안전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시설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점검을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재발</a:t>
                      </a:r>
                      <a:r>
                        <a:rPr 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170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방지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447799"/>
            <a:ext cx="8219000" cy="8389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712875" y="1806800"/>
            <a:ext cx="7886700" cy="73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메인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파이프라인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유형별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4-1.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시스템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초기화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로딩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print("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시스템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초기화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중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...")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folder_path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"/content/drive/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MyDrive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dacon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/open/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건설안전지침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  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Markdown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폴더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경로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device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torch.device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cuda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torch.cuda.is_available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 else 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cpu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print(f"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사용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중인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장치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{device}")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print("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로드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중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...")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# SBERT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model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SentenceTransformer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jhgan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/ko-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sbert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-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sts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").to(device)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# LLM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llm_model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AutoModelForCausalLM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.from_pretrained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"upstage/SOLAR-10.7B-Instruct-v1.0",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torch_dtype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=torch.bfloat16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trust_remote_code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device_map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="auto"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tokenizer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AutoTokenizer.from_pretrained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"upstage/SOLAR-10.7B-Instruct-v1.0",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padding_side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="left",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pad_token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="&lt;|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endoftext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|&gt;"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데이터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로드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print("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데이터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준비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중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...")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train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9564150" y="1651000"/>
            <a:ext cx="8470800" cy="50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folder_path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설정</a:t>
            </a: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드라이브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경로에서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Markdown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불러오기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‘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건설안전지침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설계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device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실행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설정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GPU(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cuda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/CPU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맞게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설정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이중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(SBERT) +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(LLM)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device_map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='auto',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torch_dtype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=bfloat16 로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설정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최적화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GPU대응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대용량의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가능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320" name="Google Shape;320;p29"/>
          <p:cNvGraphicFramePr/>
          <p:nvPr>
            <p:extLst>
              <p:ext uri="{D42A27DB-BD31-4B8C-83A1-F6EECF244321}">
                <p14:modId xmlns:p14="http://schemas.microsoft.com/office/powerpoint/2010/main" val="276646812"/>
              </p:ext>
            </p:extLst>
          </p:nvPr>
        </p:nvGraphicFramePr>
        <p:xfrm>
          <a:off x="9005450" y="6541925"/>
          <a:ext cx="9029500" cy="3413640"/>
        </p:xfrm>
        <a:graphic>
          <a:graphicData uri="http://schemas.openxmlformats.org/drawingml/2006/table">
            <a:tbl>
              <a:tblPr>
                <a:noFill/>
                <a:tableStyleId>{633AED14-A794-49D2-9E54-2C16A044FF24}</a:tableStyleId>
              </a:tblPr>
              <a:tblGrid>
                <a:gridCol w="202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모델 구성 요소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사용 모델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설명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문장 임베딩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jhgan/ko-sbert-sts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SBERT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기반</a:t>
                      </a:r>
                      <a:endParaRPr lang="en-US"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한국어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문맥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임배딩</a:t>
                      </a:r>
                      <a:b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사고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의미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분석용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텍스트 생성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upstage/SOLAR-10.7B-Instruct-v1.0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LLM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기반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대응책</a:t>
                      </a:r>
                      <a:endParaRPr lang="en-US"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요약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생성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토크나이저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AutoTokenizer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LLM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추론을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위한</a:t>
                      </a:r>
                      <a:endParaRPr lang="en-US"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입력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전처리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21" name="Google Shape;321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60000">
            <a:off x="7676547" y="4988567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7;p27">
            <a:extLst>
              <a:ext uri="{FF2B5EF4-FFF2-40B4-BE49-F238E27FC236}">
                <a16:creationId xmlns:a16="http://schemas.microsoft.com/office/drawing/2014/main" id="{168A1F09-2B73-8A03-AB79-353A4F3BBA30}"/>
              </a:ext>
            </a:extLst>
          </p:cNvPr>
          <p:cNvSpPr txBox="1"/>
          <p:nvPr/>
        </p:nvSpPr>
        <p:spPr>
          <a:xfrm>
            <a:off x="533400" y="449993"/>
            <a:ext cx="2251883" cy="5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알고리즘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(RAG)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55700"/>
            <a:ext cx="18288000" cy="91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295400"/>
            <a:ext cx="8832849" cy="89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717550" y="1132110"/>
            <a:ext cx="8426450" cy="9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유형별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그룹화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grouped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train.groupby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인적사고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total_groups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len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(grouped)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print(f"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총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그룹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total_groups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res = {}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res_enhanced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{}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cosine_res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[]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 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그룹별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수집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전처리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with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tqdm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(total=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total_groups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desc="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그룹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bar_format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="{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l_bar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}{bar:20}{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r_bar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}", position=0) as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main_pbar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for name, group in grouped: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main_pbar.set_postfix_str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현재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그룹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{name}")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데이터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with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tqdm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(total=5, desc=f" {name}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분석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", leave=False, position=1) as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추출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group_pbar.set_description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("[1/5]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데이터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수집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plan = group["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재발방지대책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향후조치계획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sentences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plan.tolist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   # Markdown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파일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처리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(PDF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group_pbar.set_description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("[2/5] Markdown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분석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# Markdown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문서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추가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markdown_dirs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glob(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os.path.join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folder_path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"*"))  </a:t>
            </a: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모든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하위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디렉토리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검색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for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markdown_dir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markdown_dirs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read_markdown_files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markdown_dir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processed_text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preprocess_text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markdown_sentences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split_sentences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processed_text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sentences.extend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markdown_sentences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9749374" y="2620731"/>
            <a:ext cx="8155500" cy="615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인적사고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그룹화한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뒤, 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재발방지대책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향후조치계획’과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건설안전지침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결합하여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사례와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반영한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맞춤형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가능하게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함.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그룹핑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data의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인적사고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컬럼을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그룹화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떨어짐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끼임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부딪힘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넘어짐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등)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수집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그룹에서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재발방지대책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향후조치계획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컬럼에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수집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형태로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→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Markdown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결합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맞는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건설안전지침’을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불러와서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전처리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과정을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사례를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보강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pic>
        <p:nvPicPr>
          <p:cNvPr id="333" name="Google Shape;333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60000">
            <a:off x="7538000" y="1892525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7;p27">
            <a:extLst>
              <a:ext uri="{FF2B5EF4-FFF2-40B4-BE49-F238E27FC236}">
                <a16:creationId xmlns:a16="http://schemas.microsoft.com/office/drawing/2014/main" id="{6A03BEF8-B216-B44A-113F-478D97FE88E6}"/>
              </a:ext>
            </a:extLst>
          </p:cNvPr>
          <p:cNvSpPr txBox="1"/>
          <p:nvPr/>
        </p:nvSpPr>
        <p:spPr>
          <a:xfrm>
            <a:off x="533400" y="449993"/>
            <a:ext cx="2251883" cy="5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알고리즘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(RAG)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55700"/>
            <a:ext cx="18288000" cy="91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447800"/>
            <a:ext cx="8286224" cy="767372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-504903" y="1783250"/>
            <a:ext cx="9012450" cy="78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group_pbar.set_description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("[3/5]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vectors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model.encode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sentences,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batch_size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=32,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show_progress_bar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=False,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device=device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group_pbar.update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분석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group_pbar.set_description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("[4/5]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분석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유사도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계산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후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대표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선택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word_sim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prepare_similarities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(sentences, vectors)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combined_sim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combined_similarity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context_sim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word_sim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)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best_idx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np.argmax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np.mean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combined_sim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, axis=1))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group_pbar.update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(1)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# AI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group_pbar.set_description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("[5/5] AI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representative_plan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= sentences[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best_idx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]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            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res[name]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Noto Sans"/>
                <a:sym typeface="Noto Sans"/>
              </a:rPr>
              <a:t>representative_plan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9564150" y="2107744"/>
            <a:ext cx="8190450" cy="675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문장들을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SBERT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후, 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고려하여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LLM에게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대책을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SBERT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그룹별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수집된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jhgan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/ko-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sbert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sts’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선택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SBERT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TF-IDF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위에서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만든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행렬을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가중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중심으로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높은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선정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선택된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결과를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res 에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45" name="Google Shape;345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60000">
            <a:off x="7705175" y="3670525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7;p27">
            <a:extLst>
              <a:ext uri="{FF2B5EF4-FFF2-40B4-BE49-F238E27FC236}">
                <a16:creationId xmlns:a16="http://schemas.microsoft.com/office/drawing/2014/main" id="{56A72000-5932-450D-EFB4-8B34D90C7D89}"/>
              </a:ext>
            </a:extLst>
          </p:cNvPr>
          <p:cNvSpPr txBox="1"/>
          <p:nvPr/>
        </p:nvSpPr>
        <p:spPr>
          <a:xfrm>
            <a:off x="533400" y="449993"/>
            <a:ext cx="2251883" cy="5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알고리즘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Arial"/>
              </a:rPr>
              <a:t>(RAG)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700" y="1155700"/>
            <a:ext cx="18288000" cy="913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750" y="1866900"/>
            <a:ext cx="9679900" cy="5501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445750" y="2060413"/>
            <a:ext cx="9149436" cy="5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rag_prompt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f"""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     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지침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당신은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건설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안전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전문가입니다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   -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질문에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답변을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핵심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내용만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요약하여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간략하게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작성하세요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-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단어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강조를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위한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"**"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표시를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절대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포함하지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 -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서론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배경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설명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또는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설명을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절대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포함하지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 -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특수기호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(=-)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포함하지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  -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다음과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같은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조치를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취할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것을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제안합니다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같은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내용을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포함하지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- 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제안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사항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:, 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핵심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조치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같은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내용을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포함하지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마세요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representative_plan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}"""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채팅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형식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입력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messages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[</a:t>
            </a:r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altLang="ko-KR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{"role": "system", "content"</a:t>
            </a:r>
            <a:br>
              <a:rPr lang="en-US" altLang="ko-KR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</a:br>
            <a:r>
              <a:rPr lang="en-US" altLang="ko-KR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            : "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전달받은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내용을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단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한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글자도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바꾸지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않고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완전히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그대로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ko-KR" alt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출력합니다</a:t>
            </a:r>
            <a:r>
              <a:rPr lang="en-US" altLang="ko-KR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."},</a:t>
            </a:r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{"role": "user", "content":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rag_prompt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 ]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10631700" y="1681575"/>
            <a:ext cx="7656300" cy="7217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전문가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부여하고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장황한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서술이나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강조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표현을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배제하는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지침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선정된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입력값으로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간결하고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정확한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rag_prompt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건설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전문가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지시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포함된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지시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사항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- 1.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작성할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것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- 2.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강조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 등)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금지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- 3.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배경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금지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- 4.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특수기호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금지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- 5.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권고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금지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- 6.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형식적인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헤더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금지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채팅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메시지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</a:t>
            </a: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(messages)</a:t>
            </a:r>
            <a:b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GPT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(role)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전달하기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system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메시지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제공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user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위에서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rag_prompt를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전달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57" name="Google Shape;357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60000">
            <a:off x="8388912" y="1123201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2"/>
          <p:cNvSpPr txBox="1"/>
          <p:nvPr/>
        </p:nvSpPr>
        <p:spPr>
          <a:xfrm>
            <a:off x="587443" y="503223"/>
            <a:ext cx="1976143" cy="4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프롬프트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작성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714500"/>
            <a:ext cx="182880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414900"/>
            <a:ext cx="6598201" cy="790057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 txBox="1"/>
          <p:nvPr/>
        </p:nvSpPr>
        <p:spPr>
          <a:xfrm>
            <a:off x="1130300" y="1574850"/>
            <a:ext cx="5486400" cy="83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모델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입력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구성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inputs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tokenizer.apply_chat_template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messages,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add_generation_prompt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return_tensors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="pt",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return_attention_mask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=True,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return_dict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).to(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llm_model.device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입력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분리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nput_ids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inputs["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input_ids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</a:t>
            </a:r>
            <a:endParaRPr sz="1700" dirty="0">
              <a:highlight>
                <a:schemeClr val="lt1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attention_mask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inputs["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attention_mask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LLM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응답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output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llm_model.generate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 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F2CC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input_ids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input_ids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attention_mask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attention_mask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max_new_tokens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=256,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do_sample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temperature=0.7,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top_k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=20,</a:t>
            </a:r>
            <a:endParaRPr sz="1700" dirty="0">
              <a:highlight>
                <a:srgbClr val="FFE599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top_p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=0.85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8124600" y="1356105"/>
            <a:ext cx="9630000" cy="6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chat-style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LLM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구성하고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적절한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설정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top-k, top-p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샘플링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다양하고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신뢰성있게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채팅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메시지를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입력값으로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변환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SOLAR는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GPT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한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모델로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구분된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chat-style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apply_chat_template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()는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이러한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메시지를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이해할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있도록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이해할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형식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input_ids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)로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변환해주는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함수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입력값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분리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input_ids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질문과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지침이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변환된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ID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배열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attention_mask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토큰을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읽을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지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여부를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알려주는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마스크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(1은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읽고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0은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generate()는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입력값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input_ids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)를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바탕으로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새로운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위에서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만든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토큰을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바탕으로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369" name="Google Shape;369;p33"/>
          <p:cNvGraphicFramePr/>
          <p:nvPr>
            <p:extLst>
              <p:ext uri="{D42A27DB-BD31-4B8C-83A1-F6EECF244321}">
                <p14:modId xmlns:p14="http://schemas.microsoft.com/office/powerpoint/2010/main" val="2758220129"/>
              </p:ext>
            </p:extLst>
          </p:nvPr>
        </p:nvGraphicFramePr>
        <p:xfrm>
          <a:off x="7929400" y="6957150"/>
          <a:ext cx="9560800" cy="2712540"/>
        </p:xfrm>
        <a:graphic>
          <a:graphicData uri="http://schemas.openxmlformats.org/drawingml/2006/table">
            <a:tbl>
              <a:tblPr>
                <a:noFill/>
                <a:tableStyleId>{633AED14-A794-49D2-9E54-2C16A044FF24}</a:tableStyleId>
              </a:tblPr>
              <a:tblGrid>
                <a:gridCol w="2477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828">
                  <a:extLst>
                    <a:ext uri="{9D8B030D-6E8A-4147-A177-3AD203B41FA5}">
                      <a16:colId xmlns:a16="http://schemas.microsoft.com/office/drawing/2014/main" val="1040433580"/>
                    </a:ext>
                  </a:extLst>
                </a:gridCol>
                <a:gridCol w="370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파라미터</a:t>
                      </a:r>
                      <a:endParaRPr sz="21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1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설명</a:t>
                      </a:r>
                      <a:endParaRPr sz="21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1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의미</a:t>
                      </a:r>
                      <a:endParaRPr sz="21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max_new_tokens</a:t>
                      </a:r>
                      <a:r>
                        <a:rPr lang="en-US" sz="1700" b="1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=256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생성할 최대 토큰 수 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문장이 너무 길어지는 것을 방지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do_sample</a:t>
                      </a:r>
                      <a:r>
                        <a:rPr lang="en-US" sz="1700" b="1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=True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샘플링 기반 생성 활성화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더 다양한 문장 생성 가능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temperature=0.7</a:t>
                      </a:r>
                      <a:endParaRPr sz="1700" b="1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확률분포의 날카로움 조절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낮을수록 보수적</a:t>
                      </a:r>
                      <a:r>
                        <a:rPr lang="en-US" altLang="ko-KR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높을수록 창의적인 답변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top_k</a:t>
                      </a:r>
                      <a:r>
                        <a:rPr lang="en-US" sz="1700" b="1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=20</a:t>
                      </a:r>
                      <a:endParaRPr sz="1700" b="1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상위 </a:t>
                      </a:r>
                      <a:r>
                        <a:rPr lang="en-US" altLang="ko-KR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 후보 중에서 샘플링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엉뚱한 단어 선택 방지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 err="1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top_p</a:t>
                      </a:r>
                      <a:r>
                        <a:rPr lang="en-US" sz="1700" b="1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=0.85</a:t>
                      </a:r>
                      <a:endParaRPr sz="1700" b="1" dirty="0">
                        <a:solidFill>
                          <a:schemeClr val="dk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 확률 기준으로 샘플링 후보 제한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 없는 단어 제외 </a:t>
                      </a:r>
                      <a:r>
                        <a:rPr lang="en-US" altLang="ko-KR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확률기반 필터링</a:t>
                      </a:r>
                      <a:r>
                        <a:rPr lang="en-US" altLang="ko-KR" sz="1700" dirty="0">
                          <a:solidFill>
                            <a:schemeClr val="dk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sz="17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70" name="Google Shape;370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60000">
            <a:off x="6161405" y="4895800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665488" y="520750"/>
            <a:ext cx="1898098" cy="45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텍스트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후처리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714500"/>
            <a:ext cx="182880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650" y="1155700"/>
            <a:ext cx="17259302" cy="426664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942050" y="1510648"/>
            <a:ext cx="16725900" cy="39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대표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기반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(LLM)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generated_text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tokenizer.decode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(output[0],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skip_special_tokens</a:t>
            </a:r>
            <a:r>
              <a:rPr lang="en-US" sz="1700" b="0" i="0" u="none" strike="noStrike" cap="none" dirty="0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assistant_response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(r"### 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System|Assistant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):.*?", "",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generated_text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flags=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re.DOTALL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).strip()  # LLM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응답에서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시스템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메시지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match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highlight>
                  <a:srgbClr val="FFE599"/>
                </a:highlight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re.search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(r"### User:\s*(.*?)$",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assistant_response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flags=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re.DOTALL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  # "### User:"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이후의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텍스트만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추출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res_enhanced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[name]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match.group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(1).strip() if match else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assistant_response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최종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main_pbar.update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(1)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최종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결과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반환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추가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res_enhanced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model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5.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실행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결과</a:t>
            </a:r>
            <a:r>
              <a:rPr lang="en-US" sz="1700" b="1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1700" b="1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endParaRPr sz="17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if __name__ == "__main__":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res_enhanced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model = main()  #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전체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파이프라인이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작동되며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사고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유형별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결과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생성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및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 </a:t>
            </a:r>
            <a:r>
              <a:rPr lang="en-US" sz="1700" dirty="0" err="1"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완료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cs typeface="Calibri"/>
              <a:sym typeface="Calibri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895550" y="5650725"/>
            <a:ext cx="16818900" cy="4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응답에서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메시지나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프롬프트를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제거하는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처리과정을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간결한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요약문으로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만들고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구조화하여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저장함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디코딩</a:t>
            </a:r>
            <a:endParaRPr sz="23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LLM이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tokenizer.decode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 )를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사람이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읽을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있는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문장으로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skip_special_tonkens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True로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특수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기호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25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</a:pPr>
            <a:r>
              <a:rPr lang="en-US" altLang="ko-KR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생성된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중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불필요한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문구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</a:t>
            </a:r>
            <a:endParaRPr sz="23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re.sub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 ) 와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re.search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 )를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사용하여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내용만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추출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25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</a:pPr>
            <a:r>
              <a:rPr lang="en-US" altLang="ko-KR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최종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결과</a:t>
            </a:r>
            <a:r>
              <a:rPr lang="en-US" sz="23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300" b="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</a:t>
            </a:r>
            <a:endParaRPr sz="23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대응책을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res_enhanced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딕셔너리에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저장하고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유형별로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대응책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완료되면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결과</a:t>
            </a:r>
            <a:r>
              <a:rPr 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반환</a:t>
            </a: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0" algn="l" rtl="0">
              <a:lnSpc>
                <a:spcPct val="996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82" name="Google Shape;382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8238420">
            <a:off x="11856775" y="4528750"/>
            <a:ext cx="1333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2;p33">
            <a:extLst>
              <a:ext uri="{FF2B5EF4-FFF2-40B4-BE49-F238E27FC236}">
                <a16:creationId xmlns:a16="http://schemas.microsoft.com/office/drawing/2014/main" id="{FD61D582-FC0C-BE3D-BA1E-A92C9718FB42}"/>
              </a:ext>
            </a:extLst>
          </p:cNvPr>
          <p:cNvSpPr txBox="1"/>
          <p:nvPr/>
        </p:nvSpPr>
        <p:spPr>
          <a:xfrm>
            <a:off x="665488" y="520750"/>
            <a:ext cx="1898098" cy="45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텍스트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후처리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714500"/>
            <a:ext cx="182880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781" y="1447800"/>
            <a:ext cx="9669300" cy="86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5"/>
          <p:cNvSpPr txBox="1"/>
          <p:nvPr/>
        </p:nvSpPr>
        <p:spPr>
          <a:xfrm>
            <a:off x="533394" y="1460500"/>
            <a:ext cx="9440700" cy="81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후처리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벡터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재생성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embedding_model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SentenceTransformer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jhgan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/ko-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sbert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-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sts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CSV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파일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로드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file_path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"baseline.csv"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pd.read_csv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file_path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encoding="utf-8-sig")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불필요한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clean_text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pd.isna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return ""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프롬프트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관련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불필요한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지침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:.*?\n", "", text, flags=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re.DOTALL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전체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프롬프트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(r"- .*?\n", "",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불필요한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가이드라인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제안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사항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:.*?\n", "",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가이드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(r"###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핵심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조치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요약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:.*?\n", "",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핵심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조치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영어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자동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한국어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문장만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남기기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(r"[A-Za-z].*\n?", "",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영어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문장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줄씩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탐색하여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삭제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특수기호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(=-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불필요한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(r"[-=]{2</a:t>
            </a:r>
            <a:r>
              <a:rPr 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,}", "", text)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숫자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리스트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제거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예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: 1. 2. 3. 4.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(r"\n?\d+\.\s+", "",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숫자와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점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(`.`)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뒤의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공백까지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삭제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공백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개행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정리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text.strip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(r"\n+", "\n", text)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여러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개의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개행을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하나로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축소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text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5"/>
          <p:cNvSpPr txBox="1"/>
          <p:nvPr/>
        </p:nvSpPr>
        <p:spPr>
          <a:xfrm>
            <a:off x="9215128" y="1168400"/>
            <a:ext cx="8870320" cy="27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jhgan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/ko-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sbert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sts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한국어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특화된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SBERT(Sentence-BERT)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최적화됨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로드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응답과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검사가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실행된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baseline.csv파일을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불러옴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88900" lvl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클리닝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프로세스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graphicFrame>
        <p:nvGraphicFramePr>
          <p:cNvPr id="394" name="Google Shape;394;p35"/>
          <p:cNvGraphicFramePr/>
          <p:nvPr>
            <p:extLst>
              <p:ext uri="{D42A27DB-BD31-4B8C-83A1-F6EECF244321}">
                <p14:modId xmlns:p14="http://schemas.microsoft.com/office/powerpoint/2010/main" val="2901027585"/>
              </p:ext>
            </p:extLst>
          </p:nvPr>
        </p:nvGraphicFramePr>
        <p:xfrm>
          <a:off x="10376862" y="3819173"/>
          <a:ext cx="7235058" cy="6339384"/>
        </p:xfrm>
        <a:graphic>
          <a:graphicData uri="http://schemas.openxmlformats.org/drawingml/2006/table">
            <a:tbl>
              <a:tblPr>
                <a:noFill/>
                <a:tableStyleId>{633AED14-A794-49D2-9E54-2C16A044FF24}</a:tableStyleId>
              </a:tblPr>
              <a:tblGrid>
                <a:gridCol w="241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1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09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코드</a:t>
                      </a:r>
                      <a:r>
                        <a:rPr lang="en-US" sz="22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라인</a:t>
                      </a:r>
                      <a:endParaRPr sz="22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대상</a:t>
                      </a:r>
                      <a:r>
                        <a:rPr lang="en-US" sz="22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패턴</a:t>
                      </a:r>
                      <a:endParaRPr sz="22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b="1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목적</a:t>
                      </a:r>
                      <a:endParaRPr sz="2200" b="1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91425" marB="91425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### 지침:.*?\n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프롬프트 지시문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지시문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제거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- .*?\n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불릿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포인트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불릿 포인트 제거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15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### 제안/핵심 조치 요약:.*?\n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요약 헤더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요약 헤더 제거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[A-Za-z].*\n?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영어 문장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영어 문장 제거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[-=]{2,}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특수기호 시퀀스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특수기호 제거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\n?\d+\.\s+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숫자 리스트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숫자 리스트 제거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text.strip()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공백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여백 정리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7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  <a:sym typeface="Varela Round"/>
                        </a:rPr>
                        <a:t>\n+ → \n</a:t>
                      </a:r>
                      <a:endParaRPr sz="2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Varela Round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연속 개행</a:t>
                      </a:r>
                      <a:endParaRPr sz="2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개행</a:t>
                      </a:r>
                      <a:r>
                        <a:rPr lang="en-US" sz="2200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200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압축</a:t>
                      </a:r>
                      <a:endParaRPr sz="22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25" marR="91425" marT="68950" marB="68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95" name="Google Shape;395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482551">
            <a:off x="6808575" y="2397600"/>
            <a:ext cx="13335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2;p33">
            <a:extLst>
              <a:ext uri="{FF2B5EF4-FFF2-40B4-BE49-F238E27FC236}">
                <a16:creationId xmlns:a16="http://schemas.microsoft.com/office/drawing/2014/main" id="{17855FEB-D008-37E1-F583-8B79A950B75F}"/>
              </a:ext>
            </a:extLst>
          </p:cNvPr>
          <p:cNvSpPr txBox="1"/>
          <p:nvPr/>
        </p:nvSpPr>
        <p:spPr>
          <a:xfrm>
            <a:off x="665488" y="520750"/>
            <a:ext cx="1898098" cy="45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텍스트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후처리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714500"/>
            <a:ext cx="182880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450" y="2954600"/>
            <a:ext cx="10248899" cy="609229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6"/>
          <p:cNvSpPr txBox="1"/>
          <p:nvPr/>
        </p:nvSpPr>
        <p:spPr>
          <a:xfrm>
            <a:off x="812800" y="3429000"/>
            <a:ext cx="99822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정제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재발방지대책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향후조치계획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재발방지대책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향후조치계획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"].apply(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clean_text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</a:t>
            </a:r>
            <a:endParaRPr sz="1700" b="0" i="0" u="none" strike="noStrike" cap="none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임베딩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재생성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정규화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포함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),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후처리된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답변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벡터화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cleaned_texts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["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재발방지대책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및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향후조치계획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"].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tolist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embeddings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embedding_model.encode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cleaned_texts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normalize_embeddings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=True) 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벡터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정규화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벡터를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DataFrame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에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삽입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vec_0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부터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갱신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embedding_df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pd.DataFrame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(embeddings, columns=[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f"vec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_{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}" for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in range(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embeddings.shape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[1])])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df.iloc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[:, 2:]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embedding_df.values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최종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CSV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저장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output_file_path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"/content/drive/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MyDrive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dacon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/0324_baseline.csv"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df.to_csv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output_file_path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, index=False, encoding="utf-8-sig")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 txBox="1"/>
          <p:nvPr/>
        </p:nvSpPr>
        <p:spPr>
          <a:xfrm>
            <a:off x="11951425" y="3878550"/>
            <a:ext cx="5277300" cy="42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정제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모든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행에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clean_text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()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함수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적용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임베딩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코사인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계산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최적화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데이터프레임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업데이트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iloc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[:, 2:]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세번째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행부터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덮어쓰기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ko-KR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4.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최종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저장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인덱스를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제외하여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Excel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호환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인코딩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pic>
        <p:nvPicPr>
          <p:cNvPr id="407" name="Google Shape;407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160000">
            <a:off x="10128251" y="5695268"/>
            <a:ext cx="13335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2;p33">
            <a:extLst>
              <a:ext uri="{FF2B5EF4-FFF2-40B4-BE49-F238E27FC236}">
                <a16:creationId xmlns:a16="http://schemas.microsoft.com/office/drawing/2014/main" id="{086A692A-D8B5-3B13-0FFB-68F9BBBDEEB1}"/>
              </a:ext>
            </a:extLst>
          </p:cNvPr>
          <p:cNvSpPr txBox="1"/>
          <p:nvPr/>
        </p:nvSpPr>
        <p:spPr>
          <a:xfrm>
            <a:off x="665488" y="520750"/>
            <a:ext cx="1898098" cy="45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텍스트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후처리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0"/>
            <a:ext cx="194818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10275"/>
            <a:ext cx="182880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587500"/>
            <a:ext cx="6235700" cy="80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7"/>
          <p:cNvSpPr txBox="1"/>
          <p:nvPr/>
        </p:nvSpPr>
        <p:spPr>
          <a:xfrm>
            <a:off x="1162050" y="2133300"/>
            <a:ext cx="4978400" cy="6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텍스트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후처리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함수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정의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def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clean_text_strict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pd.isna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(text):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return ""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기본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정리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text.strip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text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re.sub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(r"\s+", " ", text)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가장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마지막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'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다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.'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기준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자르기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text.rfind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다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!= -1: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return text[: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+ 2]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없으면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'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.'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자르기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text.rfind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요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.")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!= -1: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return text[: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last_sentence_end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+ 2]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#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그래도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없으면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마침표로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libri"/>
                <a:sym typeface="Calibri"/>
              </a:rPr>
              <a:t>자르기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last_period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=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text.rfind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(".")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if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last_period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!= -1: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    return text[: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last_period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 + 1]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Arial"/>
              </a:rPr>
              <a:t>    return text</a:t>
            </a:r>
            <a:endParaRPr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 txBox="1"/>
          <p:nvPr/>
        </p:nvSpPr>
        <p:spPr>
          <a:xfrm>
            <a:off x="9144000" y="1378475"/>
            <a:ext cx="7707000" cy="85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결측값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설명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입력값이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NaN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빈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기본적인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정리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앞뒤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불필요한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공백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제거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중간에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공백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(\t, \n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포함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)을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공백으로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압축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마지막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종결형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자르기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다."를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문장을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자름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"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요."를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자르기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Roboto Mono"/>
              </a:rPr>
              <a:t>다."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없을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"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요."가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마침표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자르기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위의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종결어미들이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모두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없을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마침표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기준으로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자름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조건도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해당하지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않으면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원문</a:t>
            </a:r>
            <a:r>
              <a:rPr lang="en-US" sz="2200" b="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반환</a:t>
            </a:r>
            <a:endParaRPr sz="2200" b="1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표현이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하나도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없는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경우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텍스트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그대로</a:t>
            </a:r>
            <a:r>
              <a:rPr lang="en-US" sz="22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반환</a:t>
            </a: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lnSpc>
                <a:spcPct val="1328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19" name="Google Shape;419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0" y="355600"/>
            <a:ext cx="31342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160000">
            <a:off x="6860375" y="4159425"/>
            <a:ext cx="13335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2;p33">
            <a:extLst>
              <a:ext uri="{FF2B5EF4-FFF2-40B4-BE49-F238E27FC236}">
                <a16:creationId xmlns:a16="http://schemas.microsoft.com/office/drawing/2014/main" id="{FDB6AEE6-FB1E-E26A-F957-1B796A212779}"/>
              </a:ext>
            </a:extLst>
          </p:cNvPr>
          <p:cNvSpPr txBox="1"/>
          <p:nvPr/>
        </p:nvSpPr>
        <p:spPr>
          <a:xfrm>
            <a:off x="665488" y="520750"/>
            <a:ext cx="1898098" cy="45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텍스트</a:t>
            </a:r>
            <a:r>
              <a:rPr lang="en-US" sz="27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 </a:t>
            </a:r>
            <a:r>
              <a:rPr lang="en-US" sz="27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Calibri"/>
              </a:rPr>
              <a:t>후처리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5079</Words>
  <Application>Microsoft Office PowerPoint</Application>
  <PresentationFormat>사용자 지정</PresentationFormat>
  <Paragraphs>688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Pretendard Light</vt:lpstr>
      <vt:lpstr>D2Coding</vt:lpstr>
      <vt:lpstr>Arial</vt:lpstr>
      <vt:lpstr>Calibri</vt:lpstr>
      <vt:lpstr>Pretendard ExtraBold</vt:lpstr>
      <vt:lpstr>Pretendard Medium</vt:lpstr>
      <vt:lpstr>Pretendard SemiBold</vt:lpstr>
      <vt:lpstr>Varela Round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Owner</dc:creator>
  <cp:lastModifiedBy>Minji Choi</cp:lastModifiedBy>
  <cp:revision>13</cp:revision>
  <dcterms:modified xsi:type="dcterms:W3CDTF">2025-03-28T10:09:21Z</dcterms:modified>
</cp:coreProperties>
</file>